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5276" autoAdjust="0"/>
    <p:restoredTop sz="99500" autoAdjust="0"/>
  </p:normalViewPr>
  <p:slideViewPr>
    <p:cSldViewPr snapToGrid="0" snapToObjects="1">
      <p:cViewPr varScale="1">
        <p:scale>
          <a:sx n="75" d="100"/>
          <a:sy n="75" d="100"/>
        </p:scale>
        <p:origin x="0" y="0"/>
      </p:cViewPr>
      <p:guideLst/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178612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pitchFamily="0" charset="0"/>
        <a:ea typeface="等线" pitchFamily="0" charset="0"/>
        <a:cs typeface="Aptos" pitchFamily="0" charset="0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3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3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2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754926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51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3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431522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61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62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4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574521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78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79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5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983492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90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91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6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530342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03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04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7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709173"/>
      </p:ext>
    </p:extLst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对象"/>
          <p:cNvSpPr>
            <a:spLocks noGrp="1" noChangeAspect="1"/>
          </p:cNvSpPr>
          <p:nvPr>
            <p:ph type="sldImg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</p:sp>
      <p:sp>
        <p:nvSpPr>
          <p:cNvPr id="124" name="文本框"/>
          <p:cNvSpPr>
            <a:spLocks noGrp="1"/>
          </p:cNvSpPr>
          <p:nvPr>
            <p:ph type="body" idx="1"/>
          </p:nvPr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25" name="文本框"/>
          <p:cNvSpPr txBox="1">
            <a:spLocks/>
          </p:cNvSpPr>
          <p:nvPr/>
        </p:nvSpPr>
        <p:spPr>
          <a:xfrm rot="0">
            <a:off x="0" y="0"/>
            <a:ext cx="0" cy="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ptos" pitchFamily="0" charset="0"/>
                <a:ea typeface="等线" pitchFamily="0" charset="0"/>
                <a:cs typeface="Aptos" pitchFamily="0" charset="0"/>
              </a:rPr>
              <a:t>8</a:t>
            </a:fld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pitchFamily="0" charset="0"/>
              <a:ea typeface="等线" pitchFamily="0" charset="0"/>
              <a:cs typeface="Apto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085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62377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133837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369159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920506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07474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38475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604444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763913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8567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561144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82642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grpSp>
        <p:nvGrpSpPr>
          <p:cNvPr id="28" name="组合"/>
          <p:cNvGrpSpPr>
            <a:grpSpLocks xmlns:a="http://schemas.openxmlformats.org/drawingml/2006/main"/>
          </p:cNvGrpSpPr>
          <p:nvPr/>
        </p:nvGrpSpPr>
        <p:grpSpPr>
          <a:xfrm xmlns:a="http://schemas.openxmlformats.org/drawingml/2006/main">
            <a:off x="0" y="-6350"/>
            <a:ext cx="9144000" cy="5149850"/>
            <a:chOff x="0" y="-6350"/>
            <a:chExt cx="9144000" cy="5149850"/>
          </a:xfrm>
        </p:grpSpPr>
        <p:sp>
          <p:nvSpPr>
            <p:cNvPr id="18" name="直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7028259" y="0"/>
              <a:ext cx="914400" cy="5143499"/>
            </a:xfrm>
            <a:prstGeom xmlns:a="http://schemas.openxmlformats.org/drawingml/2006/main" prst="line"/>
            <a:noFill xmlns:a="http://schemas.openxmlformats.org/drawingml/2006/main"/>
            <a:ln xmlns:a="http://schemas.openxmlformats.org/drawingml/2006/main" w="9525" cmpd="sng" cap="flat">
              <a:solidFill>
                <a:srgbClr val="BFBFBF"/>
              </a:solidFill>
              <a:prstDash val="solid"/>
              <a:round/>
            </a:ln>
          </p:spPr>
        </p:sp>
        <p:sp>
          <p:nvSpPr>
            <p:cNvPr id="19" name="直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1" rot="0">
              <a:off x="5568951" y="2761060"/>
              <a:ext cx="3572668" cy="2382440"/>
            </a:xfrm>
            <a:prstGeom xmlns:a="http://schemas.openxmlformats.org/drawingml/2006/main" prst="line"/>
            <a:noFill xmlns:a="http://schemas.openxmlformats.org/drawingml/2006/main"/>
            <a:ln xmlns:a="http://schemas.openxmlformats.org/drawingml/2006/main" w="9525" cmpd="sng" cap="flat">
              <a:solidFill>
                <a:srgbClr val="D8D8D8"/>
              </a:solidFill>
              <a:prstDash val="solid"/>
              <a:round/>
            </a:ln>
          </p:spPr>
        </p:sp>
        <p:sp>
          <p:nvSpPr>
            <p:cNvPr id="20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6886107" y="-6350"/>
              <a:ext cx="2255512" cy="5149850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4691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1" y="0"/>
                  </a:lnTo>
                  <a:close/>
                </a:path>
              </a:pathLst>
            </a:custGeom>
            <a:solidFill xmlns:a="http://schemas.openxmlformats.org/drawingml/2006/main">
              <a:srgbClr val="90C226">
                <a:alpha val="3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1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7202581" y="-6350"/>
              <a:ext cx="1941418" cy="5149850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90C226">
                <a:alpha val="2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2" name="等腰三角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6699250" y="2286000"/>
              <a:ext cx="2444750" cy="2857500"/>
            </a:xfrm>
            <a:prstGeom xmlns:a="http://schemas.openxmlformats.org/drawingml/2006/main" prst="triangle">
              <a:avLst>
                <a:gd name="adj" fmla="val 100000"/>
              </a:avLst>
            </a:prstGeom>
            <a:solidFill xmlns:a="http://schemas.openxmlformats.org/drawingml/2006/main">
              <a:srgbClr val="54A021">
                <a:alpha val="72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3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7000875" y="-6350"/>
              <a:ext cx="2140744" cy="5149850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3F7719">
                <a:alpha val="7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4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8174047" y="-6350"/>
              <a:ext cx="967570" cy="5149850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7073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 xmlns:a="http://schemas.openxmlformats.org/drawingml/2006/main">
              <a:srgbClr val="C0E373">
                <a:alpha val="7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5" name="曲线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8204249" y="-6350"/>
              <a:ext cx="937368" cy="5149850"/>
            </a:xfrm>
            <a:custGeom xmlns:a="http://schemas.openxmlformats.org/drawingml/2006/main"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2" y="21600"/>
                  </a:lnTo>
                  <a:lnTo>
                    <a:pt x="0" y="0"/>
                  </a:lnTo>
                  <a:close/>
                </a:path>
              </a:pathLst>
            </a:custGeom>
            <a:solidFill xmlns:a="http://schemas.openxmlformats.org/drawingml/2006/main">
              <a:srgbClr val="90C226">
                <a:alpha val="65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6" name="等腰三角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7778749" y="2692400"/>
              <a:ext cx="1362869" cy="2451100"/>
            </a:xfrm>
            <a:prstGeom xmlns:a="http://schemas.openxmlformats.org/drawingml/2006/main" prst="triangle">
              <a:avLst>
                <a:gd name="adj" fmla="val 100000"/>
              </a:avLst>
            </a:prstGeom>
            <a:solidFill xmlns:a="http://schemas.openxmlformats.org/drawingml/2006/main">
              <a:srgbClr val="90C226">
                <a:alpha val="80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  <p:sp>
          <p:nvSpPr>
            <p:cNvPr id="27" name="等腰三角形"/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rot="0">
              <a:off x="0" y="3009900"/>
              <a:ext cx="336549" cy="2133600"/>
            </a:xfrm>
            <a:prstGeom xmlns:a="http://schemas.openxmlformats.org/drawingml/2006/main" prst="triangle">
              <a:avLst>
                <a:gd name="adj" fmla="val 0"/>
              </a:avLst>
            </a:prstGeom>
            <a:solidFill xmlns:a="http://schemas.openxmlformats.org/drawingml/2006/main">
              <a:srgbClr val="90C226">
                <a:alpha val="85000"/>
              </a:srgbClr>
            </a:solidFill>
            <a:ln xmlns:a="http://schemas.openxmlformats.org/drawingml/2006/main" w="12700" cmpd="sng" cap="flat">
              <a:noFill/>
              <a:prstDash val="solid"/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123195475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"/>
          <p:cNvGrpSpPr>
            <a:grpSpLocks/>
          </p:cNvGrpSpPr>
          <p:nvPr/>
        </p:nvGrpSpPr>
        <p:grpSpPr>
          <a:xfrm>
            <a:off x="0" y="-6350"/>
            <a:ext cx="9144000" cy="5149850"/>
            <a:chOff x="0" y="-6350"/>
            <a:chExt cx="9144000" cy="5149850"/>
          </a:xfrm>
        </p:grpSpPr>
        <p:sp>
          <p:nvSpPr>
            <p:cNvPr id="2" name="直线"/>
            <p:cNvSpPr>
              <a:spLocks/>
            </p:cNvSpPr>
            <p:nvPr/>
          </p:nvSpPr>
          <p:spPr>
            <a:xfrm rot="0">
              <a:off x="7028259" y="0"/>
              <a:ext cx="914400" cy="5143499"/>
            </a:xfrm>
            <a:prstGeom prst="line"/>
            <a:noFill/>
            <a:ln w="9525" cmpd="sng" cap="flat">
              <a:solidFill>
                <a:srgbClr val="BFBFBF"/>
              </a:solidFill>
              <a:prstDash val="solid"/>
              <a:round/>
            </a:ln>
          </p:spPr>
        </p:sp>
        <p:sp>
          <p:nvSpPr>
            <p:cNvPr id="3" name="直线"/>
            <p:cNvSpPr>
              <a:spLocks/>
            </p:cNvSpPr>
            <p:nvPr/>
          </p:nvSpPr>
          <p:spPr>
            <a:xfrm flipH="1" rot="0">
              <a:off x="5568951" y="2761060"/>
              <a:ext cx="3572668" cy="2382440"/>
            </a:xfrm>
            <a:prstGeom prst="line"/>
            <a:noFill/>
            <a:ln w="9525" cmpd="sng" cap="flat">
              <a:solidFill>
                <a:srgbClr val="D8D8D8"/>
              </a:solidFill>
              <a:prstDash val="solid"/>
              <a:round/>
            </a:ln>
          </p:spPr>
        </p:sp>
        <p:sp>
          <p:nvSpPr>
            <p:cNvPr id="4" name="曲线"/>
            <p:cNvSpPr>
              <a:spLocks/>
            </p:cNvSpPr>
            <p:nvPr/>
          </p:nvSpPr>
          <p:spPr>
            <a:xfrm rot="0">
              <a:off x="6886107" y="-6350"/>
              <a:ext cx="2255512" cy="51498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4691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1" y="0"/>
                  </a:lnTo>
                  <a:close/>
                </a:path>
              </a:pathLst>
            </a:custGeom>
            <a:solidFill>
              <a:srgbClr val="90C226">
                <a:alpha val="3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5" name="曲线"/>
            <p:cNvSpPr>
              <a:spLocks/>
            </p:cNvSpPr>
            <p:nvPr/>
          </p:nvSpPr>
          <p:spPr>
            <a:xfrm rot="0">
              <a:off x="7202581" y="-6350"/>
              <a:ext cx="1941418" cy="51498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2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6" name="等腰三角形"/>
            <p:cNvSpPr>
              <a:spLocks/>
            </p:cNvSpPr>
            <p:nvPr/>
          </p:nvSpPr>
          <p:spPr>
            <a:xfrm rot="0">
              <a:off x="6699250" y="2286000"/>
              <a:ext cx="2444750" cy="2857500"/>
            </a:xfrm>
            <a:prstGeom prst="triangle">
              <a:avLst>
                <a:gd name="adj" fmla="val 100000"/>
              </a:avLst>
            </a:prstGeom>
            <a:solidFill>
              <a:srgbClr val="54A021">
                <a:alpha val="72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7" name="曲线"/>
            <p:cNvSpPr>
              <a:spLocks/>
            </p:cNvSpPr>
            <p:nvPr/>
          </p:nvSpPr>
          <p:spPr>
            <a:xfrm rot="0">
              <a:off x="7000875" y="-6350"/>
              <a:ext cx="2140744" cy="51498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719">
                <a:alpha val="7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8" name="曲线"/>
            <p:cNvSpPr>
              <a:spLocks/>
            </p:cNvSpPr>
            <p:nvPr/>
          </p:nvSpPr>
          <p:spPr>
            <a:xfrm rot="0">
              <a:off x="8174047" y="-6350"/>
              <a:ext cx="967570" cy="51498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17073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373">
                <a:alpha val="7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9" name="曲线"/>
            <p:cNvSpPr>
              <a:spLocks/>
            </p:cNvSpPr>
            <p:nvPr/>
          </p:nvSpPr>
          <p:spPr>
            <a:xfrm rot="0">
              <a:off x="8204249" y="-6350"/>
              <a:ext cx="937368" cy="51498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6">
                <a:alpha val="65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0" name="等腰三角形"/>
            <p:cNvSpPr>
              <a:spLocks/>
            </p:cNvSpPr>
            <p:nvPr/>
          </p:nvSpPr>
          <p:spPr>
            <a:xfrm rot="0">
              <a:off x="7778749" y="2692400"/>
              <a:ext cx="1362869" cy="2451100"/>
            </a:xfrm>
            <a:prstGeom prst="triangle">
              <a:avLst>
                <a:gd name="adj" fmla="val 100000"/>
              </a:avLst>
            </a:prstGeom>
            <a:solidFill>
              <a:srgbClr val="90C226">
                <a:alpha val="80000"/>
              </a:srgbClr>
            </a:solidFill>
            <a:ln w="12700" cmpd="sng" cap="flat">
              <a:noFill/>
              <a:prstDash val="solid"/>
              <a:round/>
            </a:ln>
          </p:spPr>
        </p:sp>
        <p:sp>
          <p:nvSpPr>
            <p:cNvPr id="11" name="等腰三角形"/>
            <p:cNvSpPr>
              <a:spLocks/>
            </p:cNvSpPr>
            <p:nvPr/>
          </p:nvSpPr>
          <p:spPr>
            <a:xfrm rot="0">
              <a:off x="0" y="3009900"/>
              <a:ext cx="336549" cy="2133600"/>
            </a:xfrm>
            <a:prstGeom prst="triangle">
              <a:avLst>
                <a:gd name="adj" fmla="val 0"/>
              </a:avLst>
            </a:prstGeom>
            <a:solidFill>
              <a:srgbClr val="90C226">
                <a:alpha val="85000"/>
              </a:srgbClr>
            </a:solidFill>
            <a:ln w="12700" cmpd="sng" cap="flat">
              <a:noFill/>
              <a:prstDash val="solid"/>
              <a:round/>
            </a:ln>
          </p:spPr>
        </p:sp>
      </p:grpSp>
      <p:sp>
        <p:nvSpPr>
          <p:cNvPr id="13" name="文本框"/>
          <p:cNvSpPr>
            <a:spLocks noGrp="1"/>
          </p:cNvSpPr>
          <p:nvPr>
            <p:ph type="title"/>
          </p:nvPr>
        </p:nvSpPr>
        <p:spPr>
          <a:xfrm rot="0">
            <a:off x="508001" y="457200"/>
            <a:ext cx="6447501" cy="990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4" name="文本框"/>
          <p:cNvSpPr>
            <a:spLocks noGrp="1"/>
          </p:cNvSpPr>
          <p:nvPr>
            <p:ph type="body" idx="1"/>
          </p:nvPr>
        </p:nvSpPr>
        <p:spPr>
          <a:xfrm rot="0">
            <a:off x="508001" y="1620442"/>
            <a:ext cx="6447501" cy="29105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5" name="文本框"/>
          <p:cNvSpPr>
            <a:spLocks noGrp="1"/>
          </p:cNvSpPr>
          <p:nvPr>
            <p:ph type="dt" idx="2"/>
          </p:nvPr>
        </p:nvSpPr>
        <p:spPr>
          <a:xfrm rot="0">
            <a:off x="5403850" y="4531022"/>
            <a:ext cx="683954" cy="2738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675">
                <a:solidFill>
                  <a:srgbClr val="898989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7/23/2026</a:t>
            </a:fld>
            <a:endParaRPr lang="zh-CN" altLang="en-US" sz="675">
              <a:solidFill>
                <a:srgbClr val="898989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6" name="文本框"/>
          <p:cNvSpPr>
            <a:spLocks noGrp="1"/>
          </p:cNvSpPr>
          <p:nvPr>
            <p:ph type="ftr" idx="3"/>
          </p:nvPr>
        </p:nvSpPr>
        <p:spPr>
          <a:xfrm rot="0">
            <a:off x="508001" y="4531022"/>
            <a:ext cx="4723208" cy="2738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endParaRPr lang="zh-CN" altLang="en-US" sz="675">
              <a:solidFill>
                <a:srgbClr val="898989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7" name="文本框"/>
          <p:cNvSpPr>
            <a:spLocks noGrp="1"/>
          </p:cNvSpPr>
          <p:nvPr>
            <p:ph type="sldNum" idx="4"/>
          </p:nvPr>
        </p:nvSpPr>
        <p:spPr>
          <a:xfrm rot="0">
            <a:off x="6442998" y="4531022"/>
            <a:ext cx="512503" cy="27384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675" b="0" i="0" u="none" strike="noStrike" kern="1200" cap="none" spc="0" baseline="0">
                <a:solidFill>
                  <a:schemeClr val="accent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&lt;#&gt;</a:t>
            </a:fld>
            <a:endParaRPr lang="zh-CN" altLang="en-US" sz="675">
              <a:solidFill>
                <a:schemeClr val="accent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l" defTabSz="914400" eaLnBrk="1" fontAlgn="auto" latinLnBrk="0" hangingPunct="1">
        <a:spcBef>
          <a:spcPts val="0"/>
        </a:spcBef>
        <a:buNone/>
        <a:defRPr sz="2700" kern="1200">
          <a:solidFill>
            <a:schemeClr val="accent1"/>
          </a:solidFill>
          <a:latin typeface="Trebuchet MS" pitchFamily="0" charset="0"/>
          <a:ea typeface="方正姚体" pitchFamily="0" charset="0"/>
          <a:cs typeface="Trebuchet MS" pitchFamily="0" charset="0"/>
        </a:defRPr>
      </a:lvl1pPr>
    </p:titleStyle>
    <p:bodyStyle>
      <a:lvl1pPr marL="257175" indent="-257175" algn="l" defTabSz="914400" eaLnBrk="1" fontAlgn="auto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35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1pPr>
      <a:lvl2pPr marL="557022" indent="-214249" algn="l" defTabSz="914400" eaLnBrk="1" fontAlgn="auto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2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2pPr>
      <a:lvl3pPr marL="857250" indent="-171450" algn="l" defTabSz="914400" eaLnBrk="1" fontAlgn="auto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105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3pPr>
      <a:lvl4pPr marL="1200150" indent="-171450" algn="l" defTabSz="914400" eaLnBrk="1" fontAlgn="auto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9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4pPr>
      <a:lvl5pPr marL="1543050" indent="-171450" algn="l" defTabSz="914400" eaLnBrk="1" fontAlgn="auto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9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5pPr>
      <a:lvl6pPr marL="1885950" indent="-171450" algn="l" defTabSz="914400" eaLnBrk="1" fontAlgn="auto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9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6pPr>
      <a:lvl7pPr marL="2228850" indent="-171450" algn="l" defTabSz="914400" eaLnBrk="1" fontAlgn="auto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9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7pPr>
      <a:lvl8pPr marL="2571750" indent="-171450" algn="l" defTabSz="914400" eaLnBrk="1" fontAlgn="auto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9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8pPr>
      <a:lvl9pPr marL="2571750" indent="-171450" algn="l" defTabSz="914400" eaLnBrk="1" fontAlgn="auto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itchFamily="0" charset="2"/>
        <a:buChar char=""/>
        <a:defRPr sz="900" kern="1200">
          <a:solidFill>
            <a:srgbClr val="404040"/>
          </a:solidFill>
          <a:latin typeface="Trebuchet MS" pitchFamily="0" charset="0"/>
          <a:ea typeface="华文新魏" pitchFamily="0" charset="0"/>
          <a:cs typeface="Trebuchet MS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.jpeg"/><Relationship Id="rId2" Type="http://schemas.openxmlformats.org/officeDocument/2006/relationships/image" Target="../media/3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5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6.jpeg"/><Relationship Id="rId2" Type="http://schemas.openxmlformats.org/officeDocument/2006/relationships/image" Target="../media/7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8.jpeg"/><Relationship Id="rId2" Type="http://schemas.openxmlformats.org/officeDocument/2006/relationships/image" Target="../media/9.jpeg"/><Relationship Id="rId3" Type="http://schemas.openxmlformats.org/officeDocument/2006/relationships/image" Target="../media/10.jpe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1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"/>
          <p:cNvSpPr>
            <a:spLocks/>
          </p:cNvSpPr>
          <p:nvPr/>
        </p:nvSpPr>
        <p:spPr>
          <a:xfrm rot="0">
            <a:off x="2152357" y="1139483"/>
            <a:ext cx="5233181" cy="7486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Microservices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archteciture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 in cloud </a:t>
            </a:r>
            <a:r>
              <a:rPr lang="en-US" altLang="zh-CN" sz="2400" b="1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environment</a:t>
            </a:r>
            <a:endParaRPr lang="zh-CN" altLang="en-US" sz="2400" b="1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 rot="0">
            <a:off x="668708" y="2632417"/>
            <a:ext cx="4291911" cy="6248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Santhosh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kumar.M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(192511017)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Mohamed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safeel.J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(192324279)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37952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3600450" cy="51435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32" name="矩形"/>
          <p:cNvSpPr>
            <a:spLocks/>
          </p:cNvSpPr>
          <p:nvPr/>
        </p:nvSpPr>
        <p:spPr>
          <a:xfrm rot="0">
            <a:off x="3925118" y="905320"/>
            <a:ext cx="4722763" cy="5298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The Monolith Trap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4162126" y="1808559"/>
            <a:ext cx="4324944" cy="2649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Historical Legacy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 rot="0">
            <a:off x="4162126" y="2158529"/>
            <a:ext cx="4324944" cy="5527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Large, tightly interconnected codebases demand full redeployment for even the smallest change — creating friction at every level of the development lifecycle.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35" name="矩形"/>
          <p:cNvSpPr>
            <a:spLocks/>
          </p:cNvSpPr>
          <p:nvPr/>
        </p:nvSpPr>
        <p:spPr>
          <a:xfrm rot="0">
            <a:off x="4162126" y="3174653"/>
            <a:ext cx="4324944" cy="2649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The Breaking Point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36" name="矩形"/>
          <p:cNvSpPr>
            <a:spLocks/>
          </p:cNvSpPr>
          <p:nvPr/>
        </p:nvSpPr>
        <p:spPr>
          <a:xfrm rot="0">
            <a:off x="4162126" y="3524622"/>
            <a:ext cx="4324944" cy="5527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As user demand grows, scaling becomes expensive and innovation slows. A single bottleneck can stall the entire organization's ability to ship value.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22648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"/>
          <p:cNvSpPr>
            <a:spLocks/>
          </p:cNvSpPr>
          <p:nvPr/>
        </p:nvSpPr>
        <p:spPr>
          <a:xfrm rot="0">
            <a:off x="496119" y="628278"/>
            <a:ext cx="8151763" cy="48019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0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Defining Microservices: The Modular Revolution</a:t>
            </a:r>
            <a:endParaRPr lang="zh-CN" altLang="en-US" sz="29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pic>
        <p:nvPicPr>
          <p:cNvPr id="41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96119" y="1428973"/>
            <a:ext cx="5188893" cy="2940323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2" name="矩形"/>
          <p:cNvSpPr>
            <a:spLocks/>
          </p:cNvSpPr>
          <p:nvPr/>
        </p:nvSpPr>
        <p:spPr>
          <a:xfrm rot="0">
            <a:off x="6003206" y="1399430"/>
            <a:ext cx="2649364" cy="2400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Core Concept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43" name="矩形"/>
          <p:cNvSpPr>
            <a:spLocks/>
          </p:cNvSpPr>
          <p:nvPr/>
        </p:nvSpPr>
        <p:spPr>
          <a:xfrm rot="0">
            <a:off x="6003206" y="1755874"/>
            <a:ext cx="2649364" cy="63668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Break complex applications into small, independent services — each focused on a single business capability and owned by a dedicated team.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44" name="矩形"/>
          <p:cNvSpPr>
            <a:spLocks/>
          </p:cNvSpPr>
          <p:nvPr/>
        </p:nvSpPr>
        <p:spPr>
          <a:xfrm rot="0">
            <a:off x="6003206" y="2508945"/>
            <a:ext cx="2649364" cy="2400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Philosophy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6003206" y="2865387"/>
            <a:ext cx="2649364" cy="63668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Each service owns its logic and data, communicating through well-defined APIs. No shared state, no hidden dependencies, no fragile coupling.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46" name="圆角矩形"/>
          <p:cNvSpPr>
            <a:spLocks/>
          </p:cNvSpPr>
          <p:nvPr/>
        </p:nvSpPr>
        <p:spPr>
          <a:xfrm rot="0">
            <a:off x="6003206" y="3633043"/>
            <a:ext cx="2649364" cy="751209"/>
          </a:xfrm>
          <a:prstGeom prst="roundRect">
            <a:avLst>
              <a:gd name="adj" fmla="val 7185"/>
            </a:avLst>
          </a:prstGeom>
          <a:solidFill>
            <a:srgbClr val="FFE0CC"/>
          </a:solidFill>
          <a:ln w="12700" cmpd="sng" cap="flat">
            <a:noFill/>
            <a:prstDash val="solid"/>
            <a:miter/>
          </a:ln>
        </p:spPr>
      </p:sp>
      <p:pic>
        <p:nvPicPr>
          <p:cNvPr id="47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131644" y="3804940"/>
            <a:ext cx="160586" cy="128439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8" name="矩形"/>
          <p:cNvSpPr>
            <a:spLocks/>
          </p:cNvSpPr>
          <p:nvPr/>
        </p:nvSpPr>
        <p:spPr>
          <a:xfrm rot="0">
            <a:off x="6420668" y="3769891"/>
            <a:ext cx="2103462" cy="4775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0000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Think of it as replacing a single massive engine with many specialized, replaceable parts.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2555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0" y="0"/>
            <a:ext cx="3600450" cy="5143500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53" name="矩形"/>
          <p:cNvSpPr>
            <a:spLocks/>
          </p:cNvSpPr>
          <p:nvPr/>
        </p:nvSpPr>
        <p:spPr>
          <a:xfrm rot="0">
            <a:off x="3925118" y="813196"/>
            <a:ext cx="4722763" cy="5298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Accelerating Agility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 rot="0">
            <a:off x="4114204" y="2121694"/>
            <a:ext cx="212600" cy="2763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1</a:t>
            </a:r>
            <a:endParaRPr lang="zh-CN" altLang="en-US" sz="16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4652962" y="1716434"/>
            <a:ext cx="3834110" cy="2649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Development Velocity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4652962" y="2066404"/>
            <a:ext cx="3834110" cy="73699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Parallel workflows let independent teams deploy features daily without coordination overhead. Spotify releases updates continuously across hundreds of squads.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4114204" y="3579911"/>
            <a:ext cx="212600" cy="2763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5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2</a:t>
            </a:r>
            <a:endParaRPr lang="zh-CN" altLang="en-US" sz="16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58" name="矩形"/>
          <p:cNvSpPr>
            <a:spLocks/>
          </p:cNvSpPr>
          <p:nvPr/>
        </p:nvSpPr>
        <p:spPr>
          <a:xfrm rot="0">
            <a:off x="4652962" y="3266777"/>
            <a:ext cx="3834110" cy="2649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Tech Diversity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59" name="矩形"/>
          <p:cNvSpPr>
            <a:spLocks/>
          </p:cNvSpPr>
          <p:nvPr/>
        </p:nvSpPr>
        <p:spPr>
          <a:xfrm rot="0">
            <a:off x="4652962" y="3616747"/>
            <a:ext cx="3834110" cy="55274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Teams choose the right tool for each job — Node.js for APIs, Go for high-throughput services, Python for data workloads — without forcing a single stack.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618696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5543550" y="0"/>
            <a:ext cx="3600450" cy="5143946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64" name="矩形"/>
          <p:cNvSpPr>
            <a:spLocks/>
          </p:cNvSpPr>
          <p:nvPr/>
        </p:nvSpPr>
        <p:spPr>
          <a:xfrm rot="0">
            <a:off x="496119" y="389855"/>
            <a:ext cx="4722762" cy="92719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Infrastructure &amp; The Cloud-Native Stack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65" name="圆角矩形"/>
          <p:cNvSpPr>
            <a:spLocks/>
          </p:cNvSpPr>
          <p:nvPr/>
        </p:nvSpPr>
        <p:spPr>
          <a:xfrm rot="0">
            <a:off x="496119" y="1479797"/>
            <a:ext cx="2307134" cy="1809601"/>
          </a:xfrm>
          <a:prstGeom prst="roundRect">
            <a:avLst>
              <a:gd name="adj" fmla="val 2879"/>
            </a:avLst>
          </a:prstGeom>
          <a:solidFill>
            <a:srgbClr val="FFFFF4"/>
          </a:solidFill>
          <a:ln w="14288" cmpd="sng" cap="flat">
            <a:solidFill>
              <a:srgbClr val="FFE0CC"/>
            </a:solidFill>
            <a:prstDash val="solid"/>
            <a:round/>
          </a:ln>
        </p:spPr>
      </p:sp>
      <p:sp>
        <p:nvSpPr>
          <p:cNvPr id="66" name="椭圆"/>
          <p:cNvSpPr>
            <a:spLocks/>
          </p:cNvSpPr>
          <p:nvPr/>
        </p:nvSpPr>
        <p:spPr>
          <a:xfrm rot="0">
            <a:off x="634379" y="1618058"/>
            <a:ext cx="372070" cy="372070"/>
          </a:xfrm>
          <a:prstGeom prst="ellipse"/>
          <a:solidFill>
            <a:srgbClr val="FF954F"/>
          </a:solidFill>
          <a:ln w="12700" cmpd="sng" cap="flat">
            <a:noFill/>
            <a:prstDash val="solid"/>
            <a:miter/>
          </a:ln>
        </p:spPr>
      </p:sp>
      <p:sp>
        <p:nvSpPr>
          <p:cNvPr id="67" name="矩形"/>
          <p:cNvSpPr>
            <a:spLocks/>
          </p:cNvSpPr>
          <p:nvPr/>
        </p:nvSpPr>
        <p:spPr>
          <a:xfrm rot="0">
            <a:off x="634379" y="2098625"/>
            <a:ext cx="2030611" cy="2317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Containerization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68" name="矩形"/>
          <p:cNvSpPr>
            <a:spLocks/>
          </p:cNvSpPr>
          <p:nvPr/>
        </p:nvSpPr>
        <p:spPr>
          <a:xfrm rot="0">
            <a:off x="634379" y="2395463"/>
            <a:ext cx="2030611" cy="7556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Docker encapsulates each service with its dependencies, guaranteeing consistent behavior across dev, staging, and production environments.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69" name="圆角矩形"/>
          <p:cNvSpPr>
            <a:spLocks/>
          </p:cNvSpPr>
          <p:nvPr/>
        </p:nvSpPr>
        <p:spPr>
          <a:xfrm rot="0">
            <a:off x="2911748" y="1479797"/>
            <a:ext cx="2307134" cy="1809601"/>
          </a:xfrm>
          <a:prstGeom prst="roundRect">
            <a:avLst>
              <a:gd name="adj" fmla="val 2879"/>
            </a:avLst>
          </a:prstGeom>
          <a:solidFill>
            <a:srgbClr val="FFFFF4"/>
          </a:solidFill>
          <a:ln w="14288" cmpd="sng" cap="flat">
            <a:solidFill>
              <a:srgbClr val="FFE0CC"/>
            </a:solidFill>
            <a:prstDash val="solid"/>
            <a:round/>
          </a:ln>
        </p:spPr>
      </p:sp>
      <p:sp>
        <p:nvSpPr>
          <p:cNvPr id="70" name="椭圆"/>
          <p:cNvSpPr>
            <a:spLocks/>
          </p:cNvSpPr>
          <p:nvPr/>
        </p:nvSpPr>
        <p:spPr>
          <a:xfrm rot="0">
            <a:off x="3050009" y="1618058"/>
            <a:ext cx="372069" cy="372070"/>
          </a:xfrm>
          <a:prstGeom prst="ellipse"/>
          <a:solidFill>
            <a:srgbClr val="FF954F"/>
          </a:solidFill>
          <a:ln w="12700" cmpd="sng" cap="flat">
            <a:noFill/>
            <a:prstDash val="solid"/>
            <a:miter/>
          </a:ln>
        </p:spPr>
      </p:sp>
      <p:sp>
        <p:nvSpPr>
          <p:cNvPr id="71" name="矩形"/>
          <p:cNvSpPr>
            <a:spLocks/>
          </p:cNvSpPr>
          <p:nvPr/>
        </p:nvSpPr>
        <p:spPr>
          <a:xfrm rot="0">
            <a:off x="3050009" y="2098625"/>
            <a:ext cx="2030611" cy="2317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Orchestration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72" name="矩形"/>
          <p:cNvSpPr>
            <a:spLocks/>
          </p:cNvSpPr>
          <p:nvPr/>
        </p:nvSpPr>
        <p:spPr>
          <a:xfrm rot="0">
            <a:off x="3050009" y="2395463"/>
            <a:ext cx="2030611" cy="75567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Kubernetes automates deployment, horizontal scaling, self-healing, and rolling updates — the operating system of cloud-native infrastructure.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73" name="圆角矩形"/>
          <p:cNvSpPr>
            <a:spLocks/>
          </p:cNvSpPr>
          <p:nvPr/>
        </p:nvSpPr>
        <p:spPr>
          <a:xfrm rot="0">
            <a:off x="496119" y="3397895"/>
            <a:ext cx="4722762" cy="1356196"/>
          </a:xfrm>
          <a:prstGeom prst="roundRect">
            <a:avLst>
              <a:gd name="adj" fmla="val 3842"/>
            </a:avLst>
          </a:prstGeom>
          <a:solidFill>
            <a:srgbClr val="FFFFF4"/>
          </a:solidFill>
          <a:ln w="14288" cmpd="sng" cap="flat">
            <a:solidFill>
              <a:srgbClr val="FFE0CC"/>
            </a:solidFill>
            <a:prstDash val="solid"/>
            <a:round/>
          </a:ln>
        </p:spPr>
      </p:sp>
      <p:sp>
        <p:nvSpPr>
          <p:cNvPr id="74" name="椭圆"/>
          <p:cNvSpPr>
            <a:spLocks/>
          </p:cNvSpPr>
          <p:nvPr/>
        </p:nvSpPr>
        <p:spPr>
          <a:xfrm rot="0">
            <a:off x="634379" y="3536156"/>
            <a:ext cx="372070" cy="372069"/>
          </a:xfrm>
          <a:prstGeom prst="ellipse"/>
          <a:solidFill>
            <a:srgbClr val="FF954F"/>
          </a:solidFill>
          <a:ln w="12700" cmpd="sng" cap="flat">
            <a:noFill/>
            <a:prstDash val="solid"/>
            <a:miter/>
          </a:ln>
        </p:spPr>
      </p:sp>
      <p:sp>
        <p:nvSpPr>
          <p:cNvPr id="75" name="矩形"/>
          <p:cNvSpPr>
            <a:spLocks/>
          </p:cNvSpPr>
          <p:nvPr/>
        </p:nvSpPr>
        <p:spPr>
          <a:xfrm rot="0">
            <a:off x="634379" y="4016722"/>
            <a:ext cx="4446240" cy="2317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CI/CD Pipelines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76" name="矩形"/>
          <p:cNvSpPr>
            <a:spLocks/>
          </p:cNvSpPr>
          <p:nvPr/>
        </p:nvSpPr>
        <p:spPr>
          <a:xfrm rot="0">
            <a:off x="634379" y="4313560"/>
            <a:ext cx="4446240" cy="30226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5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Automated build, test, and deploy cycles enable teams to ship code safely and frequently, with zero-downtime releases as the standard.</a:t>
            </a:r>
            <a:endParaRPr lang="zh-CN" altLang="en-US" sz="9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344764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>
            <a:spLocks/>
          </p:cNvSpPr>
          <p:nvPr/>
        </p:nvSpPr>
        <p:spPr>
          <a:xfrm rot="0">
            <a:off x="496119" y="414709"/>
            <a:ext cx="8151763" cy="4883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95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The Service Mesh: Managing Complexity</a:t>
            </a:r>
            <a:endParaRPr lang="zh-CN" altLang="en-US" sz="29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pic>
        <p:nvPicPr>
          <p:cNvPr id="81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96119" y="1436638"/>
            <a:ext cx="5187031" cy="293928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2" name="矩形"/>
          <p:cNvSpPr>
            <a:spLocks/>
          </p:cNvSpPr>
          <p:nvPr/>
        </p:nvSpPr>
        <p:spPr>
          <a:xfrm rot="0">
            <a:off x="6006703" y="1204243"/>
            <a:ext cx="2645866" cy="2442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Control vs. Data Plane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83" name="矩形"/>
          <p:cNvSpPr>
            <a:spLocks/>
          </p:cNvSpPr>
          <p:nvPr/>
        </p:nvSpPr>
        <p:spPr>
          <a:xfrm rot="0">
            <a:off x="6006703" y="1568946"/>
            <a:ext cx="2645866" cy="81595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Sidecar proxies like </a:t>
            </a:r>
            <a:r>
              <a:rPr lang="en-US" altLang="zh-CN" sz="1000" b="1" i="0" u="none" strike="noStrike" kern="1200" cap="none" spc="0" baseline="0">
                <a:solidFill>
                  <a:srgbClr val="67534F"/>
                </a:solidFill>
                <a:latin typeface="Montserrat Bold" pitchFamily="34" charset="0"/>
                <a:ea typeface="Montserrat Bold" pitchFamily="34" charset="0"/>
                <a:cs typeface="Montserrat Bold" pitchFamily="34" charset="0"/>
              </a:rPr>
              <a:t>Envoy</a:t>
            </a:r>
            <a:r>
              <a:rPr lang="en-US" altLang="zh-CN" sz="10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 intercept all service-to-service traffic, handling encryption, authentication, and telemetry without changing application code.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84" name="矩形"/>
          <p:cNvSpPr>
            <a:spLocks/>
          </p:cNvSpPr>
          <p:nvPr/>
        </p:nvSpPr>
        <p:spPr>
          <a:xfrm rot="0">
            <a:off x="6006703" y="2505373"/>
            <a:ext cx="2645866" cy="2442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5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Advanced Routing</a:t>
            </a:r>
            <a:endParaRPr lang="zh-CN" altLang="en-US" sz="14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6006703" y="2870075"/>
            <a:ext cx="2645866" cy="652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Enable </a:t>
            </a:r>
            <a:r>
              <a:rPr lang="en-US" altLang="zh-CN" sz="1000" b="1" i="0" u="none" strike="noStrike" kern="1200" cap="none" spc="0" baseline="0">
                <a:solidFill>
                  <a:srgbClr val="67534F"/>
                </a:solidFill>
                <a:latin typeface="Montserrat Bold" pitchFamily="34" charset="0"/>
                <a:ea typeface="Montserrat Bold" pitchFamily="34" charset="0"/>
                <a:cs typeface="Montserrat Bold" pitchFamily="34" charset="0"/>
              </a:rPr>
              <a:t>Canary releases</a:t>
            </a:r>
            <a:r>
              <a:rPr lang="en-US" altLang="zh-CN" sz="10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 and </a:t>
            </a:r>
            <a:r>
              <a:rPr lang="en-US" altLang="zh-CN" sz="1000" b="1" i="0" u="none" strike="noStrike" kern="1200" cap="none" spc="0" baseline="0">
                <a:solidFill>
                  <a:srgbClr val="67534F"/>
                </a:solidFill>
                <a:latin typeface="Montserrat Bold" pitchFamily="34" charset="0"/>
                <a:ea typeface="Montserrat Bold" pitchFamily="34" charset="0"/>
                <a:cs typeface="Montserrat Bold" pitchFamily="34" charset="0"/>
              </a:rPr>
              <a:t>Blue/Green deployments</a:t>
            </a:r>
            <a:r>
              <a:rPr lang="en-US" altLang="zh-CN" sz="10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 to roll out changes to a fraction of users first — dramatically reducing release risk.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86" name="圆角矩形"/>
          <p:cNvSpPr>
            <a:spLocks/>
          </p:cNvSpPr>
          <p:nvPr/>
        </p:nvSpPr>
        <p:spPr>
          <a:xfrm rot="0">
            <a:off x="6006703" y="3658344"/>
            <a:ext cx="2645866" cy="934938"/>
          </a:xfrm>
          <a:prstGeom prst="roundRect">
            <a:avLst>
              <a:gd name="adj" fmla="val 5870"/>
            </a:avLst>
          </a:prstGeom>
          <a:solidFill>
            <a:srgbClr val="B6D6FC"/>
          </a:solidFill>
          <a:ln w="12700" cmpd="sng" cap="flat">
            <a:noFill/>
            <a:prstDash val="solid"/>
            <a:miter/>
          </a:ln>
        </p:spPr>
      </p:sp>
      <p:pic>
        <p:nvPicPr>
          <p:cNvPr id="87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6137373" y="3835896"/>
            <a:ext cx="163338" cy="130671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8" name="矩形"/>
          <p:cNvSpPr>
            <a:spLocks/>
          </p:cNvSpPr>
          <p:nvPr/>
        </p:nvSpPr>
        <p:spPr>
          <a:xfrm rot="0">
            <a:off x="6431384" y="3799433"/>
            <a:ext cx="2090513" cy="6527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000000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Istio and Linkerd are the leading service mesh implementations in production today.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51589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"/>
          <p:cNvSpPr>
            <a:spLocks/>
          </p:cNvSpPr>
          <p:nvPr/>
        </p:nvSpPr>
        <p:spPr>
          <a:xfrm rot="0">
            <a:off x="496119" y="618009"/>
            <a:ext cx="8151763" cy="10596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Industry Implementation: Real-World Transformations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pic>
        <p:nvPicPr>
          <p:cNvPr id="93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96119" y="1961183"/>
            <a:ext cx="1507480" cy="93166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4" name="矩形"/>
          <p:cNvSpPr>
            <a:spLocks/>
          </p:cNvSpPr>
          <p:nvPr/>
        </p:nvSpPr>
        <p:spPr>
          <a:xfrm rot="0">
            <a:off x="496119" y="3070027"/>
            <a:ext cx="2599133" cy="2649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Uber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95" name="矩形"/>
          <p:cNvSpPr>
            <a:spLocks/>
          </p:cNvSpPr>
          <p:nvPr/>
        </p:nvSpPr>
        <p:spPr>
          <a:xfrm rot="0">
            <a:off x="496119" y="3419996"/>
            <a:ext cx="2599133" cy="110549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Migrated from a monolithic dispatch system to thousands of microservices, enabling rapid feature rollout across 70+ countries and supporting massive global scale.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pic>
        <p:nvPicPr>
          <p:cNvPr id="96" name="图片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3272433" y="1961183"/>
            <a:ext cx="1507480" cy="93166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7" name="矩形"/>
          <p:cNvSpPr>
            <a:spLocks/>
          </p:cNvSpPr>
          <p:nvPr/>
        </p:nvSpPr>
        <p:spPr>
          <a:xfrm rot="0">
            <a:off x="3272433" y="3070027"/>
            <a:ext cx="2599134" cy="2649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Netflix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98" name="矩形"/>
          <p:cNvSpPr>
            <a:spLocks/>
          </p:cNvSpPr>
          <p:nvPr/>
        </p:nvSpPr>
        <p:spPr>
          <a:xfrm rot="0">
            <a:off x="3272433" y="3419996"/>
            <a:ext cx="2599134" cy="9212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The cloud-native pioneer runs </a:t>
            </a:r>
            <a:r>
              <a:rPr lang="en-US" altLang="zh-CN" sz="1100" b="1" i="0" u="none" strike="noStrike" kern="1200" cap="none" spc="0" baseline="0">
                <a:solidFill>
                  <a:srgbClr val="67534F"/>
                </a:solidFill>
                <a:latin typeface="Montserrat Bold" pitchFamily="34" charset="0"/>
                <a:ea typeface="Montserrat Bold" pitchFamily="34" charset="0"/>
                <a:cs typeface="Montserrat Bold" pitchFamily="34" charset="0"/>
              </a:rPr>
              <a:t>thousands of containers</a:t>
            </a: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 on AWS, delivering 99.99% uptime and serving 200M+ subscribers with independent, resilient services.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pic>
        <p:nvPicPr>
          <p:cNvPr id="99" name="图片" descr="preencod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6048747" y="1961183"/>
            <a:ext cx="1507479" cy="931664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0" name="矩形"/>
          <p:cNvSpPr>
            <a:spLocks/>
          </p:cNvSpPr>
          <p:nvPr/>
        </p:nvSpPr>
        <p:spPr>
          <a:xfrm rot="0">
            <a:off x="6048747" y="3070027"/>
            <a:ext cx="2599133" cy="2649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Spotify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01" name="矩形"/>
          <p:cNvSpPr>
            <a:spLocks/>
          </p:cNvSpPr>
          <p:nvPr/>
        </p:nvSpPr>
        <p:spPr>
          <a:xfrm rot="0">
            <a:off x="6048747" y="3419996"/>
            <a:ext cx="2599133" cy="9212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Organized into autonomous squads owning end-to-end services, enabling daily deployments and rapid experimentation at global scale.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50170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矩形"/>
          <p:cNvSpPr>
            <a:spLocks/>
          </p:cNvSpPr>
          <p:nvPr/>
        </p:nvSpPr>
        <p:spPr>
          <a:xfrm rot="0">
            <a:off x="496119" y="401762"/>
            <a:ext cx="8151763" cy="3063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5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Conclusion: The Path Forward</a:t>
            </a:r>
            <a:endParaRPr lang="zh-CN" altLang="en-US" sz="18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pic>
        <p:nvPicPr>
          <p:cNvPr id="106" name="图片" descr="preencoded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96119" y="802853"/>
            <a:ext cx="8151763" cy="3215878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7" name="矩形"/>
          <p:cNvSpPr>
            <a:spLocks/>
          </p:cNvSpPr>
          <p:nvPr/>
        </p:nvSpPr>
        <p:spPr>
          <a:xfrm rot="0">
            <a:off x="1764229" y="1916605"/>
            <a:ext cx="1621639" cy="2637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Start Small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08" name="矩形"/>
          <p:cNvSpPr>
            <a:spLocks/>
          </p:cNvSpPr>
          <p:nvPr/>
        </p:nvSpPr>
        <p:spPr>
          <a:xfrm rot="0">
            <a:off x="1764229" y="2243139"/>
            <a:ext cx="1621639" cy="417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Extract one bounded context and prove the model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09" name="矩形"/>
          <p:cNvSpPr>
            <a:spLocks/>
          </p:cNvSpPr>
          <p:nvPr/>
        </p:nvSpPr>
        <p:spPr>
          <a:xfrm rot="0">
            <a:off x="3780309" y="2160525"/>
            <a:ext cx="1621639" cy="2637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Scale Gradually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10" name="矩形"/>
          <p:cNvSpPr>
            <a:spLocks/>
          </p:cNvSpPr>
          <p:nvPr/>
        </p:nvSpPr>
        <p:spPr>
          <a:xfrm rot="0">
            <a:off x="3780309" y="2487059"/>
            <a:ext cx="1621639" cy="4177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Expand services and invest in observability &amp; CI/CD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11" name="矩形"/>
          <p:cNvSpPr>
            <a:spLocks/>
          </p:cNvSpPr>
          <p:nvPr/>
        </p:nvSpPr>
        <p:spPr>
          <a:xfrm rot="0">
            <a:off x="5819923" y="1916605"/>
            <a:ext cx="1621640" cy="5275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50" b="0" i="0" u="none" strike="noStrike" kern="1200" cap="none" spc="0" baseline="0">
                <a:solidFill>
                  <a:srgbClr val="532418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Evolve Continuously</a:t>
            </a:r>
            <a:endParaRPr lang="zh-CN" altLang="en-US" sz="155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 rot="0">
            <a:off x="5819923" y="2506916"/>
            <a:ext cx="1621640" cy="41772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Embrace automation and a culture of adaptation</a:t>
            </a:r>
            <a:endParaRPr lang="zh-CN" altLang="en-US" sz="11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13" name="矩形"/>
          <p:cNvSpPr>
            <a:spLocks/>
          </p:cNvSpPr>
          <p:nvPr/>
        </p:nvSpPr>
        <p:spPr>
          <a:xfrm rot="0">
            <a:off x="496119" y="4072012"/>
            <a:ext cx="8608963" cy="84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The journey is iterative — not a single leap but a deliberate evolution toward greater agility and resilience.</a:t>
            </a:r>
            <a:endParaRPr lang="zh-CN" altLang="en-US" sz="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14" name="圆角矩形"/>
          <p:cNvSpPr>
            <a:spLocks/>
          </p:cNvSpPr>
          <p:nvPr/>
        </p:nvSpPr>
        <p:spPr>
          <a:xfrm rot="0">
            <a:off x="496119" y="4209306"/>
            <a:ext cx="2685677" cy="532432"/>
          </a:xfrm>
          <a:prstGeom prst="roundRect">
            <a:avLst>
              <a:gd name="adj" fmla="val 6462"/>
            </a:avLst>
          </a:prstGeom>
          <a:solidFill>
            <a:srgbClr val="FFFFF4"/>
          </a:solidFill>
          <a:ln w="9525" cmpd="sng" cap="flat">
            <a:solidFill>
              <a:srgbClr val="FFE0CC"/>
            </a:solidFill>
            <a:prstDash val="solid"/>
            <a:round/>
          </a:ln>
        </p:spPr>
      </p:sp>
      <p:sp>
        <p:nvSpPr>
          <p:cNvPr id="115" name="矩形"/>
          <p:cNvSpPr>
            <a:spLocks/>
          </p:cNvSpPr>
          <p:nvPr/>
        </p:nvSpPr>
        <p:spPr>
          <a:xfrm rot="0">
            <a:off x="587573" y="4300761"/>
            <a:ext cx="2502767" cy="1530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 b="0" i="0" u="none" strike="noStrike" kern="1200" cap="none" spc="0" baseline="0">
                <a:solidFill>
                  <a:srgbClr val="000000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🎯</a:t>
            </a:r>
            <a:r>
              <a:rPr lang="en-US" altLang="zh-CN" sz="9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 Start Small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16" name="矩形"/>
          <p:cNvSpPr>
            <a:spLocks/>
          </p:cNvSpPr>
          <p:nvPr/>
        </p:nvSpPr>
        <p:spPr>
          <a:xfrm rot="0">
            <a:off x="587573" y="4482257"/>
            <a:ext cx="2502767" cy="84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Identify one bounded context. Extract it. Learn. Iterate.</a:t>
            </a:r>
            <a:endParaRPr lang="zh-CN" altLang="en-US" sz="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17" name="圆角矩形"/>
          <p:cNvSpPr>
            <a:spLocks/>
          </p:cNvSpPr>
          <p:nvPr/>
        </p:nvSpPr>
        <p:spPr>
          <a:xfrm rot="0">
            <a:off x="3229123" y="4209306"/>
            <a:ext cx="2685678" cy="532432"/>
          </a:xfrm>
          <a:prstGeom prst="roundRect">
            <a:avLst>
              <a:gd name="adj" fmla="val 6462"/>
            </a:avLst>
          </a:prstGeom>
          <a:solidFill>
            <a:srgbClr val="FFFFF4"/>
          </a:solidFill>
          <a:ln w="9525" cmpd="sng" cap="flat">
            <a:solidFill>
              <a:srgbClr val="FFE0CC"/>
            </a:solidFill>
            <a:prstDash val="solid"/>
            <a:round/>
          </a:ln>
        </p:spPr>
      </p:sp>
      <p:sp>
        <p:nvSpPr>
          <p:cNvPr id="118" name="矩形"/>
          <p:cNvSpPr>
            <a:spLocks/>
          </p:cNvSpPr>
          <p:nvPr/>
        </p:nvSpPr>
        <p:spPr>
          <a:xfrm rot="0">
            <a:off x="3320579" y="4300761"/>
            <a:ext cx="2502767" cy="1530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 b="0" i="0" u="none" strike="noStrike" kern="1200" cap="none" spc="0" baseline="0">
                <a:solidFill>
                  <a:srgbClr val="000000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🔭</a:t>
            </a:r>
            <a:r>
              <a:rPr lang="en-US" altLang="zh-CN" sz="9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 Prioritize Observability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19" name="矩形"/>
          <p:cNvSpPr>
            <a:spLocks/>
          </p:cNvSpPr>
          <p:nvPr/>
        </p:nvSpPr>
        <p:spPr>
          <a:xfrm rot="0">
            <a:off x="3320579" y="4482257"/>
            <a:ext cx="2502767" cy="1680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Invest in logging, tracing, and metrics from day one — you cannot improve what you cannot see.</a:t>
            </a:r>
            <a:endParaRPr lang="zh-CN" altLang="en-US" sz="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20" name="圆角矩形"/>
          <p:cNvSpPr>
            <a:spLocks/>
          </p:cNvSpPr>
          <p:nvPr/>
        </p:nvSpPr>
        <p:spPr>
          <a:xfrm rot="0">
            <a:off x="5962129" y="4209306"/>
            <a:ext cx="2685677" cy="532432"/>
          </a:xfrm>
          <a:prstGeom prst="roundRect">
            <a:avLst>
              <a:gd name="adj" fmla="val 6462"/>
            </a:avLst>
          </a:prstGeom>
          <a:solidFill>
            <a:srgbClr val="FFFFF4"/>
          </a:solidFill>
          <a:ln w="9525" cmpd="sng" cap="flat">
            <a:solidFill>
              <a:srgbClr val="FFE0CC"/>
            </a:solidFill>
            <a:prstDash val="solid"/>
            <a:round/>
          </a:ln>
        </p:spPr>
      </p:sp>
      <p:sp>
        <p:nvSpPr>
          <p:cNvPr id="121" name="矩形"/>
          <p:cNvSpPr>
            <a:spLocks/>
          </p:cNvSpPr>
          <p:nvPr/>
        </p:nvSpPr>
        <p:spPr>
          <a:xfrm rot="0">
            <a:off x="6053584" y="4300761"/>
            <a:ext cx="2502767" cy="15307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0" tIns="0" rIns="0" bIns="0" anchor="t" anchorCtr="0">
            <a:prstTxWarp prst="textNoShape"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 b="0" i="0" u="none" strike="noStrike" kern="1200" cap="none" spc="0" baseline="0">
                <a:solidFill>
                  <a:srgbClr val="000000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🔄</a:t>
            </a:r>
            <a:r>
              <a:rPr lang="en-US" altLang="zh-CN" sz="900" b="0" i="0" u="none" strike="noStrike" kern="1200" cap="none" spc="0" baseline="0">
                <a:solidFill>
                  <a:srgbClr val="67534F"/>
                </a:solidFill>
                <a:latin typeface="Marcellus" pitchFamily="34" charset="0"/>
                <a:ea typeface="Marcellus" pitchFamily="34" charset="0"/>
                <a:cs typeface="Marcellus" pitchFamily="34" charset="0"/>
              </a:rPr>
              <a:t> Build Culture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  <p:sp>
        <p:nvSpPr>
          <p:cNvPr id="122" name="矩形"/>
          <p:cNvSpPr>
            <a:spLocks/>
          </p:cNvSpPr>
          <p:nvPr/>
        </p:nvSpPr>
        <p:spPr>
          <a:xfrm rot="0">
            <a:off x="6053584" y="4482257"/>
            <a:ext cx="2502767" cy="16802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" b="0" i="0" u="none" strike="noStrike" kern="1200" cap="none" spc="0" baseline="0">
                <a:solidFill>
                  <a:srgbClr val="67534F"/>
                </a:solidFill>
                <a:latin typeface="Montserrat" pitchFamily="34" charset="0"/>
                <a:ea typeface="Montserrat" pitchFamily="34" charset="0"/>
                <a:cs typeface="Montserrat" pitchFamily="34" charset="0"/>
              </a:rPr>
              <a:t>Technology alone won't transform your organization. Foster a culture of ownership, automation, and continuous learning.</a:t>
            </a:r>
            <a:endParaRPr lang="zh-CN" altLang="en-US" sz="6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478966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矩形"/>
          <p:cNvSpPr>
            <a:spLocks/>
          </p:cNvSpPr>
          <p:nvPr/>
        </p:nvSpPr>
        <p:spPr>
          <a:xfrm rot="0">
            <a:off x="2987040" y="1859280"/>
            <a:ext cx="1481708" cy="3581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Trebuchet MS" pitchFamily="0" charset="0"/>
                <a:ea typeface="华文新魏" pitchFamily="0" charset="0"/>
                <a:cs typeface="Trebuchet MS" pitchFamily="0" charset="0"/>
              </a:rPr>
              <a:t>THANK  YOU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Trebuchet MS" pitchFamily="0" charset="0"/>
              <a:ea typeface="华文新魏" pitchFamily="0" charset="0"/>
              <a:cs typeface="Trebuchet MS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002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Facet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19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root</cp:lastModifiedBy>
  <cp:revision>2</cp:revision>
  <dcterms:created xsi:type="dcterms:W3CDTF">2026-07-22T16:32:06Z</dcterms:created>
  <dcterms:modified xsi:type="dcterms:W3CDTF">2026-07-23T00:56:55Z</dcterms:modified>
</cp:coreProperties>
</file>